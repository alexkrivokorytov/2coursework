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xVWtVtIyN56Sfx7nC5hSr6szQ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02920" y="594360"/>
            <a:ext cx="2468880" cy="292608"/>
          </a:xfrm>
          <a:prstGeom prst="roundRect">
            <a:avLst>
              <a:gd fmla="val 18750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02920" y="59436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КУРСОВА РОБОТА · 202</a:t>
            </a: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2920" y="109728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GameBase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02920" y="2103120"/>
            <a:ext cx="7132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База даних оцінок відеоігор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2834640"/>
            <a:ext cx="3200400" cy="22860"/>
          </a:xfrm>
          <a:prstGeom prst="rect">
            <a:avLst/>
          </a:prstGeom>
          <a:solidFill>
            <a:srgbClr val="6366F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02920" y="30632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Виконавець: 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Кривокоритов О.О.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34290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Керівник:       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Анастасія Климчук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2920" y="3794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Група:             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6.1214-пі2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02920" y="45262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411480" y="201168"/>
            <a:ext cx="1828800" cy="274320"/>
          </a:xfrm>
          <a:prstGeom prst="roundRect">
            <a:avLst>
              <a:gd fmla="val 16667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ПОСТАНОВКА ЗАДАЧІ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Мета роботи та постановка задачі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11480" y="1207008"/>
            <a:ext cx="64008" cy="2377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66928" y="1207008"/>
            <a:ext cx="38862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49808" y="132588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Мета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49808" y="1719072"/>
            <a:ext cx="3520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Розробити інформаційну систему — веб-додаток для каталогізації відеоігор та збору відгуків користувачів, що демонструє навички проектування реляційних баз даних і повноцінної веб-розробки на Flask.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709160" y="1207008"/>
            <a:ext cx="40233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892040" y="132588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Задачі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892040" y="1719072"/>
            <a:ext cx="3657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AutoNum type="arabicPeriod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Спроектувати реляційну БД (1</a:t>
            </a: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таблиць, 3НФ)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AutoNum type="arabicPeriod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Реалізувати веб-інтерфейс на Flask + Jinja2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AutoNum type="arabicPeriod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Забезпечити реєстрацію та авторизацію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AutoNum type="arabicPeriod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Додати каталог з пошуком і сортуванням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AutoNum type="arabicPeriod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Реалізувати збережені процедури, тригери, представлення та функції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AutoNum type="arabicPeriod"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Вивести статистику за допомогою віконних функцій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411480" y="201168"/>
            <a:ext cx="1828800" cy="274320"/>
          </a:xfrm>
          <a:prstGeom prst="roundRect">
            <a:avLst>
              <a:gd fmla="val 16667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ПРЕДМЕТНА ОБЛАСТЬ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Опис предметної області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11480" y="1234440"/>
            <a:ext cx="41148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411480" y="1234440"/>
            <a:ext cx="64008" cy="1463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594360" y="137160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🎮  Ігровий каталог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94360" y="173736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Відеоігри з назвами, датами виходу, описами та обкладинками. Зв'язки з розробниками, видавцями, жанрами та платформами.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754880" y="1234440"/>
            <a:ext cx="41148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754880" y="1234440"/>
            <a:ext cx="64008" cy="1463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937760" y="137160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👤  Користувачі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937760" y="173736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Реєстрація та авторизація. Кожен користувач може залишити один відгук на гру з текстом і оцінкою від 0 до 10.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11480" y="2862072"/>
            <a:ext cx="41148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11480" y="2862072"/>
            <a:ext cx="64008" cy="1463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594360" y="299923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⭐  Відгуки та рейтинги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94360" y="3364992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Агрегований рейтинг на основі відгуків. Глобальний рейтинг обчислюється через віконну функцію RANK().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754880" y="2862072"/>
            <a:ext cx="41148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754880" y="2862072"/>
            <a:ext cx="64008" cy="1463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937760" y="299923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📋  Аудит системи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937760" y="3364992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Журнал дій: кожне додавання відгуку фіксується тригером у таблиці review_audit_log.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/>
          <p:nvPr/>
        </p:nvSpPr>
        <p:spPr>
          <a:xfrm>
            <a:off x="411480" y="201168"/>
            <a:ext cx="1828800" cy="274320"/>
          </a:xfrm>
          <a:prstGeom prst="roundRect">
            <a:avLst>
              <a:gd fmla="val 16667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USE CASE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Діаграма прецедентів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Актори: Незареєстрований користувач · Зареєстрований користувач · Адміністратор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9680"/>
            <a:ext cx="7393555" cy="3261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411480" y="201168"/>
            <a:ext cx="1828800" cy="274320"/>
          </a:xfrm>
          <a:prstGeom prst="roundRect">
            <a:avLst>
              <a:gd fmla="val 16667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· ТЕХНОЛОГІЇ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Засоби розробки та обґрунтування вибору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11480" y="1234440"/>
            <a:ext cx="411480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11480" y="1234440"/>
            <a:ext cx="411480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548640" y="13716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Python 3.12 + Flask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2971800" y="1380744"/>
            <a:ext cx="1371600" cy="256032"/>
          </a:xfrm>
          <a:prstGeom prst="roundRect">
            <a:avLst>
              <a:gd fmla="val 14286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2971800" y="138074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Back-end фреймворк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48640" y="1691640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Мінімалістичний micro-framework. Простий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754880" y="1234440"/>
            <a:ext cx="411480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754880" y="1234440"/>
            <a:ext cx="411480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892040" y="13716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7315200" y="1380744"/>
            <a:ext cx="1371600" cy="256032"/>
          </a:xfrm>
          <a:prstGeom prst="roundRect">
            <a:avLst>
              <a:gd fmla="val 14286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7315200" y="138074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Реляційна СУБД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892040" y="1691640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Підтримка транзакцій, тригерів, процедур, функцій і віконних функцій.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11480" y="2532888"/>
            <a:ext cx="411480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11480" y="2532888"/>
            <a:ext cx="411480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548640" y="26700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PyMySQL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2971800" y="2679192"/>
            <a:ext cx="1371600" cy="256032"/>
          </a:xfrm>
          <a:prstGeom prst="roundRect">
            <a:avLst>
              <a:gd fmla="val 14286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2971800" y="267919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DB-драйвер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48640" y="2990088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Чистий Python-драйвер без зайвих залежностей. Дозволяє писати plain SQL — зрозуміло та прозоро.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754880" y="2532888"/>
            <a:ext cx="411480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4754880" y="2532888"/>
            <a:ext cx="411480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4892040" y="26700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Jinja2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315200" y="2679192"/>
            <a:ext cx="1371600" cy="256032"/>
          </a:xfrm>
          <a:prstGeom prst="roundRect">
            <a:avLst>
              <a:gd fmla="val 14286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7315200" y="267919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Шаблонізатор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892040" y="2990088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Вбудований у Flask. Мінімальна логіка у шаблонах, вся обробка — в Python-коді.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11480" y="3831336"/>
            <a:ext cx="411480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11480" y="3831336"/>
            <a:ext cx="411480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548640" y="396849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python-dotenv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971800" y="3977640"/>
            <a:ext cx="1371600" cy="256032"/>
          </a:xfrm>
          <a:prstGeom prst="roundRect">
            <a:avLst>
              <a:gd fmla="val 14286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2971800" y="39776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Конфігурація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48640" y="4288536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Зберігання чутливих даних (паролі БД, ключ сесії) у .env-файлі, не в коді репозиторію.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754880" y="3831336"/>
            <a:ext cx="411480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754880" y="3831336"/>
            <a:ext cx="411480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892040" y="396849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Werkzeug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315200" y="3977640"/>
            <a:ext cx="1371600" cy="256032"/>
          </a:xfrm>
          <a:prstGeom prst="roundRect">
            <a:avLst>
              <a:gd fmla="val 14286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7315200" y="39776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Безпека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892040" y="4288536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Хешування паролів (generate_password_hash / check_password_hash) без зовнішніх crypto-бібліотек.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· ER-ДІАГРАМА</a:t>
            </a:r>
            <a:endParaRPr/>
          </a:p>
        </p:txBody>
      </p:sp>
      <p:sp>
        <p:nvSpPr>
          <p:cNvPr id="124" name="Google Shape;124;p6"/>
          <p:cNvSpPr txBox="1"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ER-діаграма бази даних</a:t>
            </a:r>
            <a:endParaRPr/>
          </a:p>
        </p:txBody>
      </p:sp>
      <p:pic>
        <p:nvPicPr>
          <p:cNvPr id="125" name="Google Shape;12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750" y="969198"/>
            <a:ext cx="8770505" cy="3768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411480" y="201168"/>
            <a:ext cx="1828800" cy="274320"/>
          </a:xfrm>
          <a:prstGeom prst="roundRect">
            <a:avLst>
              <a:gd fmla="val 16667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· СХЕМА БД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Схема бази даних та нормальні форми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623560" y="1115568"/>
            <a:ext cx="31089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5623560" y="1115568"/>
            <a:ext cx="64008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5779008" y="1207008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1НФ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779008" y="1527048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Всі атрибути атомарні. Множинні значення (жанри, платформи) винесено в окремі таблиці.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623560" y="2304288"/>
            <a:ext cx="31089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5623560" y="2304288"/>
            <a:ext cx="64008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5779008" y="2395728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2НФ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779008" y="2715768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Немає часткових залежностей. Складені PK у junction-таблицях (game_id + genre_id).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623560" y="3493008"/>
            <a:ext cx="31089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623560" y="3493008"/>
            <a:ext cx="64008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5779008" y="3584448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3НФ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779008" y="3904488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Немає транзитивних залежностей. Всі атрибути залежать лише від первинного ключа.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72" y="1115575"/>
            <a:ext cx="5197650" cy="3715775"/>
          </a:xfrm>
          <a:prstGeom prst="rect">
            <a:avLst/>
          </a:prstGeom>
          <a:solidFill>
            <a:srgbClr val="F1F5F9"/>
          </a:solidFill>
          <a:ln cap="flat" cmpd="sng" w="1905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411480" y="201168"/>
            <a:ext cx="1828800" cy="274320"/>
          </a:xfrm>
          <a:prstGeom prst="roundRect">
            <a:avLst>
              <a:gd fmla="val 16667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 · DB-ОБ'ЄКТИ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Представлення, процедури, функції, тригери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11480" y="1188720"/>
            <a:ext cx="960120" cy="365760"/>
          </a:xfrm>
          <a:prstGeom prst="roundRect">
            <a:avLst>
              <a:gd fmla="val 12500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11480" y="1188720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508760" y="1207008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v_game_rankings — рейтинговий список ігор з позицією (RANK), середньою оцінкою та статусом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11480" y="1691640"/>
            <a:ext cx="8321040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411480" y="2148840"/>
            <a:ext cx="960120" cy="365760"/>
          </a:xfrm>
          <a:prstGeom prst="roundRect">
            <a:avLst>
              <a:gd fmla="val 125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11480" y="2148840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508760" y="2167128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fn_get_rating_status(score) — DETERMINISTIC функція, повертає статус ('Masterpiece' / 'Great' / 'Mediocre' / 'Poor')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11480" y="2651760"/>
            <a:ext cx="8321040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11480" y="3108960"/>
            <a:ext cx="960120" cy="365760"/>
          </a:xfrm>
          <a:prstGeom prst="roundRect">
            <a:avLst>
              <a:gd fmla="val 125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411480" y="3108960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PROCEDURE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508760" y="3127248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sp_add_game_full(...) — атомарна вставка нової гри з поверненням LAST_INSERT_ID()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11480" y="3611880"/>
            <a:ext cx="8321040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411480" y="4069080"/>
            <a:ext cx="960120" cy="365760"/>
          </a:xfrm>
          <a:prstGeom prst="roundRect">
            <a:avLst>
              <a:gd fmla="val 125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11480" y="4069080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TRIGGER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508760" y="4087368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tr_after_review_insert — AFTER INSERT на таблиці reviews, пише рядок у review_audit_log (action_type = 'INSERT')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411480" y="201168"/>
            <a:ext cx="1828800" cy="274320"/>
          </a:xfrm>
          <a:prstGeom prst="roundRect">
            <a:avLst>
              <a:gd fmla="val 16667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 · ДІАГРАМА КЛАСІВ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Діаграма класів програмного застосунку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11480" y="4681728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Архітектура системи (MVC): AppController (маршрутизація Flask) · DatabaseHelper (взаємодія з БД) · Логічні моделі даних (User, Game, Review).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74" y="1072000"/>
            <a:ext cx="6491626" cy="3383100"/>
          </a:xfrm>
          <a:prstGeom prst="rect">
            <a:avLst/>
          </a:prstGeom>
          <a:solidFill>
            <a:srgbClr val="F1F5F9"/>
          </a:solidFill>
          <a:ln cap="flat" cmpd="sng" w="1905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411480" y="201168"/>
            <a:ext cx="1828800" cy="274320"/>
          </a:xfrm>
          <a:prstGeom prst="roundRect">
            <a:avLst>
              <a:gd fmla="val 16667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· SQL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Фрагменти запитів на створення таблиць та вибірку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11480" y="1188720"/>
            <a:ext cx="4114800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411480" y="11887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TABLE (games)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11480" y="1481328"/>
            <a:ext cx="4114800" cy="2423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548640" y="1554480"/>
            <a:ext cx="38404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CREATE TABLE IF NOT EXISTS games (</a:t>
            </a:r>
            <a:br>
              <a:rPr lang="en-US" sz="950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  id</a:t>
            </a: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INT AUTO_INCREMENT PRIMARY KEY,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  title</a:t>
            </a: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VARCHAR(255) NOT NULL UNIQUE,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  release_date</a:t>
            </a: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DATE NOT NULL,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  developer_id</a:t>
            </a: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INT NOT NULL,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  FOREIGN KEY</a:t>
            </a: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(developer_id)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REFERENCES developers(id)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709160" y="1188720"/>
            <a:ext cx="4023360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4709160" y="118872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 (v_game_rankings)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709160" y="1481328"/>
            <a:ext cx="4023360" cy="2423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4828032" y="1554480"/>
            <a:ext cx="37490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CREATE OR REPLACE VIEW</a:t>
            </a: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v_game_rankings AS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g.title,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  RANK()</a:t>
            </a: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OVER (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ORDER BY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    COALESCE</a:t>
            </a: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(avg_r.score, 0)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DESC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) AS global_rank,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games g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LEFT JOIN</a:t>
            </a: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SELECT game_id,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AVG(score) AS score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FROM reviews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GROUP BY game_id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) avg_r ON g.id = avg_r.game_id;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/>
          <p:nvPr/>
        </p:nvSpPr>
        <p:spPr>
          <a:xfrm>
            <a:off x="411480" y="201168"/>
            <a:ext cx="1828800" cy="274320"/>
          </a:xfrm>
          <a:prstGeom prst="roundRect">
            <a:avLst>
              <a:gd fmla="val 16667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 · ТЕХНІЧНІ РІШЕННЯ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Нетривіальні рішення та цікаві фрагменти коду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11480" y="1188720"/>
            <a:ext cx="4114800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411480" y="11887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Тригер аудиту відгуків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11480" y="1481328"/>
            <a:ext cx="4114800" cy="1828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548640" y="1554480"/>
            <a:ext cx="38404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CREATE TRIGGER</a:t>
            </a: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tr_after_review_insert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AFTER INSERT ON</a:t>
            </a: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reviews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FOR EACH ROW</a:t>
            </a:r>
            <a:br>
              <a:rPr lang="en-US" sz="950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BEGIN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INSERT INTO review_audit_log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(review_id, action_type,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 new_score, user_info)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VALUES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(NEW.id, 'INSERT',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 NEW.score,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 CONCAT('User ID: ', NEW.user_id));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END;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411480" y="3401568"/>
            <a:ext cx="4114800" cy="777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548640" y="3456432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Забезпечує гарантоване ведення журналу безпеки безпосередньо на рівні ядра СУБД, мінімізуючи мережевий оверхед бекенд-додатку.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4709160" y="1188720"/>
            <a:ext cx="402336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4709160" y="118872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Віконна функція рейтингу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4709160" y="1481328"/>
            <a:ext cx="4023360" cy="1828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4828025" y="1554475"/>
            <a:ext cx="3749100" cy="17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-- Рейтинг без GROUP BY по</a:t>
            </a:r>
            <a:br>
              <a:rPr lang="en-US"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-- всьому результату SELECT</a:t>
            </a:r>
            <a:br>
              <a:rPr lang="en-US"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RANK()</a:t>
            </a: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OVER (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ORDER BY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COALESCE(avg_r.score, 0)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DESC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) AS global_rank</a:t>
            </a: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-- Кожна гра отримує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-- позицію автоматично,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-- без підзапиту для COUNT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709160" y="3401568"/>
            <a:ext cx="4023360" cy="7772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4846320" y="3456432"/>
            <a:ext cx="3749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RANK() дозволяє обійтися без корельованих підзапитів. Результат view v_game_rankings одразу містить global_rank для кожної гри — зручно для сторінки статистики.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/>
          <p:nvPr/>
        </p:nvSpPr>
        <p:spPr>
          <a:xfrm>
            <a:off x="411480" y="201168"/>
            <a:ext cx="1828800" cy="274320"/>
          </a:xfrm>
          <a:prstGeom prst="roundRect">
            <a:avLst>
              <a:gd fmla="val 16667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· ВИСНОВКИ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02920" y="59436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Висновки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502920" y="1426464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502920" y="142646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932688" y="1389888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Розроблено повноцінний веб-додаток GameBase для каталогізації та рецензування відеоігор на базі Flask і MySQL.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502920" y="202996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502920" y="20299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932688" y="199339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Спроектовано реляційну БД з 10 таблиць, що відповідає вимогам третьої нормальної форми (3НФ).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502920" y="2633472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502920" y="263347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932688" y="2596896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Реалізовано автентифікацію користувачів (bcrypt-хешування паролів), каталог з пошуком і сортуванням, а також систему відгуків.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502920" y="3236976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502920" y="32369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932688" y="3200400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Застосовано віконну функцію RANK() у представленні v_game_rankings для обчислення глобального рейтингу ігор.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502920" y="3840480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502920" y="38404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932688" y="3803904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Додано збережену процедуру sp_add_game_full, функцію fn_get_rating_status та тригер аудиту tr_after_review_insert.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502920" y="4443984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502920" y="444398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932688" y="4407408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Проект структуровано у 4 ключові файли (app.py, init_db.py, schema.sql, .env)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Дякую за увагу!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2026-05-16T22:41:17Z</dcterms:created>
  <dc:creator>Олександр Кривокоритов</dc:creator>
</cp:coreProperties>
</file>